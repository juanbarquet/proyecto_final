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6858000" cx="12192000"/>
  <p:notesSz cx="6858000" cy="9144000"/>
  <p:embeddedFontLst>
    <p:embeddedFont>
      <p:font typeface="DM Sans Medium"/>
      <p:regular r:id="rId16"/>
      <p:bold r:id="rId17"/>
      <p:italic r:id="rId18"/>
      <p:boldItalic r:id="rId19"/>
    </p:embeddedFont>
    <p:embeddedFont>
      <p:font typeface="Merriweather"/>
      <p:regular r:id="rId20"/>
      <p:bold r:id="rId21"/>
      <p:italic r:id="rId22"/>
      <p:boldItalic r:id="rId23"/>
    </p:embeddedFont>
    <p:embeddedFont>
      <p:font typeface="DM Sans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B07A1E7-1F00-46C1-BAC4-E9B7355B4561}">
  <a:tblStyle styleId="{AB07A1E7-1F00-46C1-BAC4-E9B7355B456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erriweather-regular.fntdata"/><Relationship Id="rId22" Type="http://schemas.openxmlformats.org/officeDocument/2006/relationships/font" Target="fonts/Merriweather-italic.fntdata"/><Relationship Id="rId21" Type="http://schemas.openxmlformats.org/officeDocument/2006/relationships/font" Target="fonts/Merriweather-bold.fntdata"/><Relationship Id="rId24" Type="http://schemas.openxmlformats.org/officeDocument/2006/relationships/font" Target="fonts/DMSans-regular.fntdata"/><Relationship Id="rId23" Type="http://schemas.openxmlformats.org/officeDocument/2006/relationships/font" Target="fonts/Merriweather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DMSans-italic.fntdata"/><Relationship Id="rId25" Type="http://schemas.openxmlformats.org/officeDocument/2006/relationships/font" Target="fonts/DMSans-bold.fntdata"/><Relationship Id="rId27" Type="http://schemas.openxmlformats.org/officeDocument/2006/relationships/font" Target="fonts/DMSans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DMSansMedium-bold.fntdata"/><Relationship Id="rId16" Type="http://schemas.openxmlformats.org/officeDocument/2006/relationships/font" Target="fonts/DMSansMedium-regular.fntdata"/><Relationship Id="rId19" Type="http://schemas.openxmlformats.org/officeDocument/2006/relationships/font" Target="fonts/DMSansMedium-boldItalic.fntdata"/><Relationship Id="rId18" Type="http://schemas.openxmlformats.org/officeDocument/2006/relationships/font" Target="fonts/DMSansMedium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f1d4c80291_0_18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f1d4c80291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f1d4c80291_14_0)">
  <p:cSld name="Generated (g3f1d4c80291_14_0)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13.png"/><Relationship Id="rId5" Type="http://schemas.openxmlformats.org/officeDocument/2006/relationships/image" Target="../media/image5.png"/><Relationship Id="rId6" Type="http://schemas.openxmlformats.org/officeDocument/2006/relationships/image" Target="../media/image8.png"/><Relationship Id="rId7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9" Type="http://schemas.openxmlformats.org/officeDocument/2006/relationships/image" Target="../media/image11.png"/><Relationship Id="rId5" Type="http://schemas.openxmlformats.org/officeDocument/2006/relationships/image" Target="../media/image9.png"/><Relationship Id="rId6" Type="http://schemas.openxmlformats.org/officeDocument/2006/relationships/image" Target="../media/image6.png"/><Relationship Id="rId7" Type="http://schemas.openxmlformats.org/officeDocument/2006/relationships/image" Target="../media/image17.png"/><Relationship Id="rId8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D54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5" name="Google Shape;8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4"/>
          <p:cNvSpPr txBox="1"/>
          <p:nvPr/>
        </p:nvSpPr>
        <p:spPr>
          <a:xfrm>
            <a:off x="2355532" y="2090737"/>
            <a:ext cx="7480935" cy="1733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4F1DE"/>
                </a:solidFill>
                <a:latin typeface="Merriweather"/>
                <a:ea typeface="Merriweather"/>
                <a:cs typeface="Merriweather"/>
                <a:sym typeface="Merriweather"/>
              </a:rPr>
              <a:t>Piedra, Papel o Tijera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400" u="none" cap="none" strike="noStrike">
                <a:solidFill>
                  <a:srgbClr val="F4F1DE"/>
                </a:solidFill>
                <a:latin typeface="Merriweather"/>
                <a:ea typeface="Merriweather"/>
                <a:cs typeface="Merriweather"/>
                <a:sym typeface="Merriweather"/>
              </a:rPr>
              <a:t> en Python</a:t>
            </a:r>
            <a:endParaRPr/>
          </a:p>
        </p:txBody>
      </p:sp>
      <p:sp>
        <p:nvSpPr>
          <p:cNvPr id="87" name="Google Shape;87;p14"/>
          <p:cNvSpPr txBox="1"/>
          <p:nvPr/>
        </p:nvSpPr>
        <p:spPr>
          <a:xfrm>
            <a:off x="3562350" y="4243387"/>
            <a:ext cx="50673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4F1DE"/>
                </a:solidFill>
                <a:latin typeface="DM Sans"/>
                <a:ea typeface="DM Sans"/>
                <a:cs typeface="DM Sans"/>
                <a:sym typeface="DM Sans"/>
              </a:rPr>
              <a:t>Arquitectura y lógica de un proyecto interactivo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1DE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5"/>
          <p:cNvSpPr/>
          <p:nvPr/>
        </p:nvSpPr>
        <p:spPr>
          <a:xfrm>
            <a:off x="5619750" y="2771775"/>
            <a:ext cx="952500" cy="47625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5"/>
          <p:cNvSpPr txBox="1"/>
          <p:nvPr/>
        </p:nvSpPr>
        <p:spPr>
          <a:xfrm>
            <a:off x="395287" y="3105150"/>
            <a:ext cx="11401425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02D54"/>
                </a:solidFill>
                <a:latin typeface="Merriweather"/>
                <a:ea typeface="Merriweather"/>
                <a:cs typeface="Merriweather"/>
                <a:sym typeface="Merriweather"/>
              </a:rPr>
              <a:t>Lógica y Funcionamiento</a:t>
            </a:r>
            <a:endParaRPr/>
          </a:p>
        </p:txBody>
      </p:sp>
      <p:sp>
        <p:nvSpPr>
          <p:cNvPr id="95" name="Google Shape;95;p15"/>
          <p:cNvSpPr txBox="1"/>
          <p:nvPr/>
        </p:nvSpPr>
        <p:spPr>
          <a:xfrm>
            <a:off x="666750" y="4019550"/>
            <a:ext cx="108585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D405B"/>
                </a:solidFill>
                <a:latin typeface="DM Sans"/>
                <a:ea typeface="DM Sans"/>
                <a:cs typeface="DM Sans"/>
                <a:sym typeface="DM Sans"/>
              </a:rPr>
              <a:t>¿Cómo traducimos las reglas humanas a código de computadora?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1DE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0" name="Google Shape;10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109912"/>
            <a:ext cx="5334000" cy="1695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3109912"/>
            <a:ext cx="5334000" cy="169545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6"/>
          <p:cNvSpPr txBox="1"/>
          <p:nvPr/>
        </p:nvSpPr>
        <p:spPr>
          <a:xfrm>
            <a:off x="571500" y="571500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2D54"/>
                </a:solidFill>
                <a:latin typeface="Merriweather"/>
                <a:ea typeface="Merriweather"/>
                <a:cs typeface="Merriweather"/>
                <a:sym typeface="Merriweather"/>
              </a:rPr>
              <a:t>Estructuras de Datos Base</a:t>
            </a:r>
            <a:endParaRPr/>
          </a:p>
        </p:txBody>
      </p:sp>
      <p:sp>
        <p:nvSpPr>
          <p:cNvPr id="104" name="Google Shape;104;p16"/>
          <p:cNvSpPr/>
          <p:nvPr/>
        </p:nvSpPr>
        <p:spPr>
          <a:xfrm>
            <a:off x="571500" y="1238250"/>
            <a:ext cx="11049000" cy="9525"/>
          </a:xfrm>
          <a:prstGeom prst="rect">
            <a:avLst/>
          </a:prstGeom>
          <a:solidFill>
            <a:srgbClr val="002D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6"/>
          <p:cNvSpPr txBox="1"/>
          <p:nvPr/>
        </p:nvSpPr>
        <p:spPr>
          <a:xfrm>
            <a:off x="904875" y="3395662"/>
            <a:ext cx="495061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2D54"/>
                </a:solidFill>
                <a:latin typeface="Merriweather"/>
                <a:ea typeface="Merriweather"/>
                <a:cs typeface="Merriweather"/>
                <a:sym typeface="Merriweather"/>
              </a:rPr>
              <a:t>La Tupla (Opciones)</a:t>
            </a:r>
            <a:endParaRPr/>
          </a:p>
        </p:txBody>
      </p:sp>
      <p:sp>
        <p:nvSpPr>
          <p:cNvPr id="106" name="Google Shape;106;p16"/>
          <p:cNvSpPr txBox="1"/>
          <p:nvPr/>
        </p:nvSpPr>
        <p:spPr>
          <a:xfrm>
            <a:off x="904875" y="3767137"/>
            <a:ext cx="471487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D405B"/>
                </a:solidFill>
                <a:latin typeface="DM Sans"/>
                <a:ea typeface="DM Sans"/>
                <a:cs typeface="DM Sans"/>
                <a:sym typeface="DM Sans"/>
              </a:rPr>
              <a:t>Usamos una </a:t>
            </a:r>
            <a:r>
              <a:rPr b="1" i="0" lang="en-US" sz="1200" u="none" cap="none" strike="noStrike">
                <a:solidFill>
                  <a:srgbClr val="3D405B"/>
                </a:solidFill>
                <a:latin typeface="DM Sans"/>
                <a:ea typeface="DM Sans"/>
                <a:cs typeface="DM Sans"/>
                <a:sym typeface="DM Sans"/>
              </a:rPr>
              <a:t>tupla</a:t>
            </a:r>
            <a:r>
              <a:rPr b="0" i="0" lang="en-US" sz="1200" u="none" cap="none" strike="noStrike">
                <a:solidFill>
                  <a:srgbClr val="3D405B"/>
                </a:solidFill>
                <a:latin typeface="DM Sans"/>
                <a:ea typeface="DM Sans"/>
                <a:cs typeface="DM Sans"/>
                <a:sym typeface="DM Sans"/>
              </a:rPr>
              <a:t> para definir "piedra", "papel" y "tijera". Es ideal porque estas opciones son fijas y no deben cambiar durante la ejecución del programa.</a:t>
            </a:r>
            <a:endParaRPr/>
          </a:p>
        </p:txBody>
      </p:sp>
      <p:sp>
        <p:nvSpPr>
          <p:cNvPr id="107" name="Google Shape;107;p16"/>
          <p:cNvSpPr txBox="1"/>
          <p:nvPr/>
        </p:nvSpPr>
        <p:spPr>
          <a:xfrm>
            <a:off x="6619875" y="3395662"/>
            <a:ext cx="495061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2D54"/>
                </a:solidFill>
                <a:latin typeface="Merriweather"/>
                <a:ea typeface="Merriweather"/>
                <a:cs typeface="Merriweather"/>
                <a:sym typeface="Merriweather"/>
              </a:rPr>
              <a:t>El Diccionario (Reglas)</a:t>
            </a:r>
            <a:endParaRPr/>
          </a:p>
        </p:txBody>
      </p:sp>
      <p:sp>
        <p:nvSpPr>
          <p:cNvPr id="108" name="Google Shape;108;p16"/>
          <p:cNvSpPr txBox="1"/>
          <p:nvPr/>
        </p:nvSpPr>
        <p:spPr>
          <a:xfrm>
            <a:off x="6619875" y="3767137"/>
            <a:ext cx="471487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D405B"/>
                </a:solidFill>
                <a:latin typeface="DM Sans"/>
                <a:ea typeface="DM Sans"/>
                <a:cs typeface="DM Sans"/>
                <a:sym typeface="DM Sans"/>
              </a:rPr>
              <a:t>Un </a:t>
            </a:r>
            <a:r>
              <a:rPr b="1" i="0" lang="en-US" sz="1200" u="none" cap="none" strike="noStrike">
                <a:solidFill>
                  <a:srgbClr val="3D405B"/>
                </a:solidFill>
                <a:latin typeface="DM Sans"/>
                <a:ea typeface="DM Sans"/>
                <a:cs typeface="DM Sans"/>
                <a:sym typeface="DM Sans"/>
              </a:rPr>
              <a:t>diccionario</a:t>
            </a:r>
            <a:r>
              <a:rPr b="0" i="0" lang="en-US" sz="1200" u="none" cap="none" strike="noStrike">
                <a:solidFill>
                  <a:srgbClr val="3D405B"/>
                </a:solidFill>
                <a:latin typeface="DM Sans"/>
                <a:ea typeface="DM Sans"/>
                <a:cs typeface="DM Sans"/>
                <a:sym typeface="DM Sans"/>
              </a:rPr>
              <a:t> mapea cada opción con aquello a lo que vence. Por ejemplo, "piedra": "tijera". Esto hace que la evaluación del ganador sea rápida y directa.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1DE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3" name="Google Shape;11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052637"/>
            <a:ext cx="53340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795587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586162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376737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7"/>
          <p:cNvSpPr txBox="1"/>
          <p:nvPr/>
        </p:nvSpPr>
        <p:spPr>
          <a:xfrm>
            <a:off x="571500" y="571500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2D54"/>
                </a:solidFill>
                <a:latin typeface="Merriweather"/>
                <a:ea typeface="Merriweather"/>
                <a:cs typeface="Merriweather"/>
                <a:sym typeface="Merriweather"/>
              </a:rPr>
              <a:t>El "Cerebro": La Función Ganador</a:t>
            </a:r>
            <a:endParaRPr/>
          </a:p>
        </p:txBody>
      </p:sp>
      <p:sp>
        <p:nvSpPr>
          <p:cNvPr id="119" name="Google Shape;119;p17"/>
          <p:cNvSpPr/>
          <p:nvPr/>
        </p:nvSpPr>
        <p:spPr>
          <a:xfrm>
            <a:off x="571500" y="1238250"/>
            <a:ext cx="11049000" cy="9525"/>
          </a:xfrm>
          <a:prstGeom prst="rect">
            <a:avLst/>
          </a:prstGeom>
          <a:solidFill>
            <a:srgbClr val="002D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7"/>
          <p:cNvSpPr txBox="1"/>
          <p:nvPr/>
        </p:nvSpPr>
        <p:spPr>
          <a:xfrm>
            <a:off x="571500" y="2205037"/>
            <a:ext cx="533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D405B"/>
                </a:solidFill>
                <a:latin typeface="DM Sans"/>
                <a:ea typeface="DM Sans"/>
                <a:cs typeface="DM Sans"/>
                <a:sym typeface="DM Sans"/>
              </a:rPr>
              <a:t>La función ganador(usuario, computadora, reglas) encapsula toda la inteligencia competitiva del programa:</a:t>
            </a:r>
            <a:endParaRPr/>
          </a:p>
        </p:txBody>
      </p:sp>
      <p:sp>
        <p:nvSpPr>
          <p:cNvPr id="121" name="Google Shape;121;p17"/>
          <p:cNvSpPr txBox="1"/>
          <p:nvPr/>
        </p:nvSpPr>
        <p:spPr>
          <a:xfrm>
            <a:off x="962025" y="2757487"/>
            <a:ext cx="494347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D405B"/>
                </a:solidFill>
                <a:latin typeface="DM Sans"/>
                <a:ea typeface="DM Sans"/>
                <a:cs typeface="DM Sans"/>
                <a:sym typeface="DM Sans"/>
              </a:rPr>
              <a:t>Comparación:</a:t>
            </a:r>
            <a:r>
              <a:rPr b="0" i="0" lang="en-US" sz="1650" u="none" cap="none" strike="noStrike">
                <a:solidFill>
                  <a:srgbClr val="3D405B"/>
                </a:solidFill>
                <a:latin typeface="DM Sans"/>
                <a:ea typeface="DM Sans"/>
                <a:cs typeface="DM Sans"/>
                <a:sym typeface="DM Sans"/>
              </a:rPr>
              <a:t> Evalúa si las elecciones son iguales (Empate).</a:t>
            </a:r>
            <a:endParaRPr/>
          </a:p>
        </p:txBody>
      </p:sp>
      <p:sp>
        <p:nvSpPr>
          <p:cNvPr id="122" name="Google Shape;122;p17"/>
          <p:cNvSpPr txBox="1"/>
          <p:nvPr/>
        </p:nvSpPr>
        <p:spPr>
          <a:xfrm>
            <a:off x="962025" y="3548062"/>
            <a:ext cx="494347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D405B"/>
                </a:solidFill>
                <a:latin typeface="DM Sans"/>
                <a:ea typeface="DM Sans"/>
                <a:cs typeface="DM Sans"/>
                <a:sym typeface="DM Sans"/>
              </a:rPr>
              <a:t>Búsqueda:</a:t>
            </a:r>
            <a:r>
              <a:rPr b="0" i="0" lang="en-US" sz="1650" u="none" cap="none" strike="noStrike">
                <a:solidFill>
                  <a:srgbClr val="3D405B"/>
                </a:solidFill>
                <a:latin typeface="DM Sans"/>
                <a:ea typeface="DM Sans"/>
                <a:cs typeface="DM Sans"/>
                <a:sym typeface="DM Sans"/>
              </a:rPr>
              <a:t> Consulta el diccionario para ver si la elección del usuario derrota a la PC.</a:t>
            </a:r>
            <a:endParaRPr/>
          </a:p>
        </p:txBody>
      </p:sp>
      <p:sp>
        <p:nvSpPr>
          <p:cNvPr id="123" name="Google Shape;123;p17"/>
          <p:cNvSpPr txBox="1"/>
          <p:nvPr/>
        </p:nvSpPr>
        <p:spPr>
          <a:xfrm>
            <a:off x="990600" y="4338637"/>
            <a:ext cx="49149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D405B"/>
                </a:solidFill>
                <a:latin typeface="DM Sans"/>
                <a:ea typeface="DM Sans"/>
                <a:cs typeface="DM Sans"/>
                <a:sym typeface="DM Sans"/>
              </a:rPr>
              <a:t>Retorno:</a:t>
            </a:r>
            <a:r>
              <a:rPr b="0" i="0" lang="en-US" sz="1650" u="none" cap="none" strike="noStrike">
                <a:solidFill>
                  <a:srgbClr val="3D405B"/>
                </a:solidFill>
                <a:latin typeface="DM Sans"/>
                <a:ea typeface="DM Sans"/>
                <a:cs typeface="DM Sans"/>
                <a:sym typeface="DM Sans"/>
              </a:rPr>
              <a:t> Devuelve un texto claro con el resultado.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1DE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8" name="Google Shape;12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52712"/>
            <a:ext cx="3555950" cy="2609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17950" y="2652712"/>
            <a:ext cx="3555950" cy="2609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2652712"/>
            <a:ext cx="3556099" cy="2609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82700" y="3033712"/>
            <a:ext cx="5334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57726" y="3033712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575750" y="3033712"/>
            <a:ext cx="5334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8"/>
          <p:cNvSpPr txBox="1"/>
          <p:nvPr/>
        </p:nvSpPr>
        <p:spPr>
          <a:xfrm>
            <a:off x="571500" y="571500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2D54"/>
                </a:solidFill>
                <a:latin typeface="Merriweather"/>
                <a:ea typeface="Merriweather"/>
                <a:cs typeface="Merriweather"/>
                <a:sym typeface="Merriweather"/>
              </a:rPr>
              <a:t>El Ciclo de Juego Interactivos</a:t>
            </a:r>
            <a:endParaRPr/>
          </a:p>
        </p:txBody>
      </p:sp>
      <p:sp>
        <p:nvSpPr>
          <p:cNvPr id="136" name="Google Shape;136;p18"/>
          <p:cNvSpPr/>
          <p:nvPr/>
        </p:nvSpPr>
        <p:spPr>
          <a:xfrm>
            <a:off x="571500" y="1238250"/>
            <a:ext cx="11049000" cy="9525"/>
          </a:xfrm>
          <a:prstGeom prst="rect">
            <a:avLst/>
          </a:prstGeom>
          <a:solidFill>
            <a:srgbClr val="002D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8"/>
          <p:cNvSpPr txBox="1"/>
          <p:nvPr/>
        </p:nvSpPr>
        <p:spPr>
          <a:xfrm>
            <a:off x="882651" y="3700462"/>
            <a:ext cx="293364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2D54"/>
                </a:solidFill>
                <a:latin typeface="Merriweather"/>
                <a:ea typeface="Merriweather"/>
                <a:cs typeface="Merriweather"/>
                <a:sym typeface="Merriweather"/>
              </a:rPr>
              <a:t>Entrada</a:t>
            </a:r>
            <a:endParaRPr/>
          </a:p>
        </p:txBody>
      </p:sp>
      <p:sp>
        <p:nvSpPr>
          <p:cNvPr id="138" name="Google Shape;138;p18"/>
          <p:cNvSpPr txBox="1"/>
          <p:nvPr/>
        </p:nvSpPr>
        <p:spPr>
          <a:xfrm>
            <a:off x="952500" y="4071937"/>
            <a:ext cx="27939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D405B"/>
                </a:solidFill>
                <a:latin typeface="DM Sans"/>
                <a:ea typeface="DM Sans"/>
                <a:cs typeface="DM Sans"/>
                <a:sym typeface="DM Sans"/>
              </a:rPr>
              <a:t>Solicitamos la elección del usuario mediante input() y estandarizamos a minúsculas.</a:t>
            </a:r>
            <a:endParaRPr/>
          </a:p>
        </p:txBody>
      </p:sp>
      <p:sp>
        <p:nvSpPr>
          <p:cNvPr id="139" name="Google Shape;139;p18"/>
          <p:cNvSpPr txBox="1"/>
          <p:nvPr/>
        </p:nvSpPr>
        <p:spPr>
          <a:xfrm>
            <a:off x="4629101" y="3700462"/>
            <a:ext cx="293364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2D54"/>
                </a:solidFill>
                <a:latin typeface="Merriweather"/>
                <a:ea typeface="Merriweather"/>
                <a:cs typeface="Merriweather"/>
                <a:sym typeface="Merriweather"/>
              </a:rPr>
              <a:t>Proceso</a:t>
            </a:r>
            <a:endParaRPr/>
          </a:p>
        </p:txBody>
      </p:sp>
      <p:sp>
        <p:nvSpPr>
          <p:cNvPr id="140" name="Google Shape;140;p18"/>
          <p:cNvSpPr txBox="1"/>
          <p:nvPr/>
        </p:nvSpPr>
        <p:spPr>
          <a:xfrm>
            <a:off x="4698950" y="4071937"/>
            <a:ext cx="2793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D405B"/>
                </a:solidFill>
                <a:latin typeface="DM Sans"/>
                <a:ea typeface="DM Sans"/>
                <a:cs typeface="DM Sans"/>
                <a:sym typeface="DM Sans"/>
              </a:rPr>
              <a:t>La computadora selecciona una opción al azar y </a:t>
            </a:r>
            <a:r>
              <a:rPr lang="en-US" sz="1200">
                <a:solidFill>
                  <a:srgbClr val="3D405B"/>
                </a:solidFill>
                <a:latin typeface="DM Sans"/>
                <a:ea typeface="DM Sans"/>
                <a:cs typeface="DM Sans"/>
                <a:sym typeface="DM Sans"/>
              </a:rPr>
              <a:t>el programa </a:t>
            </a:r>
            <a:r>
              <a:rPr b="0" i="0" lang="en-US" sz="1200" u="none" cap="none" strike="noStrike">
                <a:solidFill>
                  <a:srgbClr val="3D405B"/>
                </a:solidFill>
                <a:latin typeface="DM Sans"/>
                <a:ea typeface="DM Sans"/>
                <a:cs typeface="DM Sans"/>
                <a:sym typeface="DM Sans"/>
              </a:rPr>
              <a:t>determina quién ha vencido.</a:t>
            </a:r>
            <a:endParaRPr/>
          </a:p>
        </p:txBody>
      </p:sp>
      <p:sp>
        <p:nvSpPr>
          <p:cNvPr id="141" name="Google Shape;141;p18"/>
          <p:cNvSpPr txBox="1"/>
          <p:nvPr/>
        </p:nvSpPr>
        <p:spPr>
          <a:xfrm>
            <a:off x="8375548" y="3700462"/>
            <a:ext cx="2933804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2D54"/>
                </a:solidFill>
                <a:latin typeface="Merriweather"/>
                <a:ea typeface="Merriweather"/>
                <a:cs typeface="Merriweather"/>
                <a:sym typeface="Merriweather"/>
              </a:rPr>
              <a:t>Salida</a:t>
            </a:r>
            <a:endParaRPr/>
          </a:p>
        </p:txBody>
      </p:sp>
      <p:sp>
        <p:nvSpPr>
          <p:cNvPr id="142" name="Google Shape;142;p18"/>
          <p:cNvSpPr txBox="1"/>
          <p:nvPr/>
        </p:nvSpPr>
        <p:spPr>
          <a:xfrm>
            <a:off x="8445400" y="4071937"/>
            <a:ext cx="2794099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D405B"/>
                </a:solidFill>
                <a:latin typeface="DM Sans"/>
                <a:ea typeface="DM Sans"/>
                <a:cs typeface="DM Sans"/>
                <a:sym typeface="DM Sans"/>
              </a:rPr>
              <a:t>Mostramos mediante f-strings las elecciones de ambos y el veredicto final.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1DE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7" name="Google Shape;14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>
            <a:off x="571500" y="3114675"/>
            <a:ext cx="44196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0" u="none" cap="none" strike="noStrike">
                <a:solidFill>
                  <a:srgbClr val="E07A5F"/>
                </a:solidFill>
                <a:latin typeface="Merriweather"/>
                <a:ea typeface="Merriweather"/>
                <a:cs typeface="Merriweather"/>
                <a:sym typeface="Merriweather"/>
              </a:rPr>
              <a:t>100%</a:t>
            </a:r>
            <a:endParaRPr/>
          </a:p>
        </p:txBody>
      </p:sp>
      <p:sp>
        <p:nvSpPr>
          <p:cNvPr id="149" name="Google Shape;149;p19"/>
          <p:cNvSpPr txBox="1"/>
          <p:nvPr/>
        </p:nvSpPr>
        <p:spPr>
          <a:xfrm>
            <a:off x="571500" y="4448175"/>
            <a:ext cx="441960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2D54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Control de Errores</a:t>
            </a:r>
            <a:endParaRPr/>
          </a:p>
        </p:txBody>
      </p:sp>
      <p:sp>
        <p:nvSpPr>
          <p:cNvPr id="150" name="Google Shape;150;p19"/>
          <p:cNvSpPr txBox="1"/>
          <p:nvPr/>
        </p:nvSpPr>
        <p:spPr>
          <a:xfrm>
            <a:off x="571500" y="571500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2D54"/>
                </a:solidFill>
                <a:latin typeface="Merriweather"/>
                <a:ea typeface="Merriweather"/>
                <a:cs typeface="Merriweather"/>
                <a:sym typeface="Merriweather"/>
              </a:rPr>
              <a:t>Robustez y Validación</a:t>
            </a:r>
            <a:endParaRPr/>
          </a:p>
        </p:txBody>
      </p:sp>
      <p:sp>
        <p:nvSpPr>
          <p:cNvPr id="151" name="Google Shape;151;p19"/>
          <p:cNvSpPr/>
          <p:nvPr/>
        </p:nvSpPr>
        <p:spPr>
          <a:xfrm>
            <a:off x="571500" y="1238250"/>
            <a:ext cx="11049000" cy="9525"/>
          </a:xfrm>
          <a:prstGeom prst="rect">
            <a:avLst/>
          </a:prstGeom>
          <a:solidFill>
            <a:srgbClr val="002D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9"/>
          <p:cNvSpPr txBox="1"/>
          <p:nvPr/>
        </p:nvSpPr>
        <p:spPr>
          <a:xfrm>
            <a:off x="5372100" y="3219450"/>
            <a:ext cx="68199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2D54"/>
                </a:solidFill>
                <a:latin typeface="Merriweather"/>
                <a:ea typeface="Merriweather"/>
                <a:cs typeface="Merriweather"/>
                <a:sym typeface="Merriweather"/>
              </a:rPr>
              <a:t>Prevención de Fallos</a:t>
            </a:r>
            <a:endParaRPr/>
          </a:p>
        </p:txBody>
      </p:sp>
      <p:sp>
        <p:nvSpPr>
          <p:cNvPr id="153" name="Google Shape;153;p19"/>
          <p:cNvSpPr txBox="1"/>
          <p:nvPr/>
        </p:nvSpPr>
        <p:spPr>
          <a:xfrm>
            <a:off x="5372100" y="3590925"/>
            <a:ext cx="66294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D405B"/>
                </a:solidFill>
                <a:latin typeface="DM Sans"/>
                <a:ea typeface="DM Sans"/>
                <a:cs typeface="DM Sans"/>
                <a:sym typeface="DM Sans"/>
              </a:rPr>
              <a:t>Mediante el condicional if usuario not in opciones, el programa identifica entradas inválidas (como "agua" o "test").</a:t>
            </a:r>
            <a:endParaRPr/>
          </a:p>
        </p:txBody>
      </p:sp>
      <p:sp>
        <p:nvSpPr>
          <p:cNvPr id="154" name="Google Shape;154;p19"/>
          <p:cNvSpPr txBox="1"/>
          <p:nvPr/>
        </p:nvSpPr>
        <p:spPr>
          <a:xfrm>
            <a:off x="5372100" y="4143375"/>
            <a:ext cx="66294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D405B"/>
                </a:solidFill>
                <a:latin typeface="DM Sans"/>
                <a:ea typeface="DM Sans"/>
                <a:cs typeface="DM Sans"/>
                <a:sym typeface="DM Sans"/>
              </a:rPr>
              <a:t>El uso de .lower() permite que el programa entienda "PIEDRA", "Piedra" o "piedra" por igual, mejorando la experiencia del usuario.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1DE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9" name="Google Shape;15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0"/>
          <p:cNvSpPr txBox="1"/>
          <p:nvPr/>
        </p:nvSpPr>
        <p:spPr>
          <a:xfrm>
            <a:off x="571500" y="2195512"/>
            <a:ext cx="52006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2D54"/>
                </a:solidFill>
                <a:latin typeface="Merriweather"/>
                <a:ea typeface="Merriweather"/>
                <a:cs typeface="Merriweather"/>
                <a:sym typeface="Merriweather"/>
              </a:rPr>
              <a:t>La "IA": Azar Real</a:t>
            </a:r>
            <a:endParaRPr/>
          </a:p>
        </p:txBody>
      </p:sp>
      <p:sp>
        <p:nvSpPr>
          <p:cNvPr id="162" name="Google Shape;162;p20"/>
          <p:cNvSpPr/>
          <p:nvPr/>
        </p:nvSpPr>
        <p:spPr>
          <a:xfrm>
            <a:off x="571500" y="2862262"/>
            <a:ext cx="4953000" cy="9525"/>
          </a:xfrm>
          <a:prstGeom prst="rect">
            <a:avLst/>
          </a:prstGeom>
          <a:solidFill>
            <a:srgbClr val="002D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0"/>
          <p:cNvSpPr txBox="1"/>
          <p:nvPr/>
        </p:nvSpPr>
        <p:spPr>
          <a:xfrm>
            <a:off x="571500" y="3405187"/>
            <a:ext cx="49530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D405B"/>
                </a:solidFill>
                <a:latin typeface="DM Sans"/>
                <a:ea typeface="DM Sans"/>
                <a:cs typeface="DM Sans"/>
                <a:sym typeface="DM Sans"/>
              </a:rPr>
              <a:t>Para simular a un oponente real, utilizamos el módulo random.</a:t>
            </a:r>
            <a:endParaRPr/>
          </a:p>
        </p:txBody>
      </p:sp>
      <p:sp>
        <p:nvSpPr>
          <p:cNvPr id="164" name="Google Shape;164;p20"/>
          <p:cNvSpPr txBox="1"/>
          <p:nvPr/>
        </p:nvSpPr>
        <p:spPr>
          <a:xfrm>
            <a:off x="571500" y="3910012"/>
            <a:ext cx="495300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D405B"/>
                </a:solidFill>
                <a:latin typeface="DM Sans"/>
                <a:ea typeface="DM Sans"/>
                <a:cs typeface="DM Sans"/>
                <a:sym typeface="DM Sans"/>
              </a:rPr>
              <a:t>El método random.choice(opciones) garantiza que la computadora tenga la misma probabilidad de elegir cualquier elemento, manteniendo el juego justo e impredecible.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1DE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9" name="Google Shape;16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1"/>
          <p:cNvSpPr/>
          <p:nvPr/>
        </p:nvSpPr>
        <p:spPr>
          <a:xfrm>
            <a:off x="571500" y="2486025"/>
            <a:ext cx="11049000" cy="2943225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1" name="Google Shape;171;p21"/>
          <p:cNvGraphicFramePr/>
          <p:nvPr/>
        </p:nvGraphicFramePr>
        <p:xfrm>
          <a:off x="571500" y="24860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{AB07A1E7-1F00-46C1-BAC4-E9B7355B4561}</a:tableStyleId>
              </a:tblPr>
              <a:tblGrid>
                <a:gridCol w="2799000"/>
                <a:gridCol w="2177050"/>
                <a:gridCol w="3470075"/>
                <a:gridCol w="2602850"/>
              </a:tblGrid>
              <a:tr h="58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Elección Usuario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D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Elección PC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D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Lógica del Diccionario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D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Resultado Final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D54"/>
                    </a:solidFill>
                  </a:tcPr>
                </a:tc>
              </a:tr>
              <a:tr h="58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D405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Piedra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D405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Tijera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D405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Piedra vence a Tijera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D405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¡Ganaste!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D405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Papel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D405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Piedra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D405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Papel vence a Piedra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D405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¡Ganaste!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D405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Tijera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D405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Papel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D405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Tijera vence a Papel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D405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¡Ganaste!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D405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Cualquiera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D405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Igual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D405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Identidad (A == B)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D405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Empate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2" name="Google Shape;172;p21"/>
          <p:cNvSpPr txBox="1"/>
          <p:nvPr/>
        </p:nvSpPr>
        <p:spPr>
          <a:xfrm>
            <a:off x="571500" y="571500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2D54"/>
                </a:solidFill>
                <a:latin typeface="Merriweather"/>
                <a:ea typeface="Merriweather"/>
                <a:cs typeface="Merriweather"/>
                <a:sym typeface="Merriweather"/>
              </a:rPr>
              <a:t>Lógica de Victoria (Mapeo)</a:t>
            </a:r>
            <a:endParaRPr/>
          </a:p>
        </p:txBody>
      </p:sp>
      <p:sp>
        <p:nvSpPr>
          <p:cNvPr id="173" name="Google Shape;173;p21"/>
          <p:cNvSpPr/>
          <p:nvPr/>
        </p:nvSpPr>
        <p:spPr>
          <a:xfrm>
            <a:off x="571500" y="1238250"/>
            <a:ext cx="11049000" cy="9525"/>
          </a:xfrm>
          <a:prstGeom prst="rect">
            <a:avLst/>
          </a:prstGeom>
          <a:solidFill>
            <a:srgbClr val="002D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1"/>
          <p:cNvSpPr/>
          <p:nvPr/>
        </p:nvSpPr>
        <p:spPr>
          <a:xfrm>
            <a:off x="571500" y="3643312"/>
            <a:ext cx="2799010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1"/>
          <p:cNvSpPr/>
          <p:nvPr/>
        </p:nvSpPr>
        <p:spPr>
          <a:xfrm>
            <a:off x="3370510" y="3643312"/>
            <a:ext cx="2177057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1"/>
          <p:cNvSpPr/>
          <p:nvPr/>
        </p:nvSpPr>
        <p:spPr>
          <a:xfrm>
            <a:off x="5547568" y="3643312"/>
            <a:ext cx="3470076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1"/>
          <p:cNvSpPr/>
          <p:nvPr/>
        </p:nvSpPr>
        <p:spPr>
          <a:xfrm>
            <a:off x="9017644" y="3643312"/>
            <a:ext cx="2602855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1"/>
          <p:cNvSpPr/>
          <p:nvPr/>
        </p:nvSpPr>
        <p:spPr>
          <a:xfrm>
            <a:off x="571500" y="4233862"/>
            <a:ext cx="2799010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1"/>
          <p:cNvSpPr/>
          <p:nvPr/>
        </p:nvSpPr>
        <p:spPr>
          <a:xfrm>
            <a:off x="3370510" y="4233862"/>
            <a:ext cx="2177057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1"/>
          <p:cNvSpPr/>
          <p:nvPr/>
        </p:nvSpPr>
        <p:spPr>
          <a:xfrm>
            <a:off x="5547568" y="4233862"/>
            <a:ext cx="3470076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1"/>
          <p:cNvSpPr/>
          <p:nvPr/>
        </p:nvSpPr>
        <p:spPr>
          <a:xfrm>
            <a:off x="9017644" y="4233862"/>
            <a:ext cx="2602855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1"/>
          <p:cNvSpPr/>
          <p:nvPr/>
        </p:nvSpPr>
        <p:spPr>
          <a:xfrm>
            <a:off x="571500" y="4824412"/>
            <a:ext cx="2799010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1"/>
          <p:cNvSpPr/>
          <p:nvPr/>
        </p:nvSpPr>
        <p:spPr>
          <a:xfrm>
            <a:off x="3370510" y="4824412"/>
            <a:ext cx="2177057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1"/>
          <p:cNvSpPr/>
          <p:nvPr/>
        </p:nvSpPr>
        <p:spPr>
          <a:xfrm>
            <a:off x="5547568" y="4824412"/>
            <a:ext cx="3470076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1"/>
          <p:cNvSpPr/>
          <p:nvPr/>
        </p:nvSpPr>
        <p:spPr>
          <a:xfrm>
            <a:off x="9017644" y="4824412"/>
            <a:ext cx="2602855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1"/>
          <p:cNvSpPr/>
          <p:nvPr/>
        </p:nvSpPr>
        <p:spPr>
          <a:xfrm>
            <a:off x="571500" y="5414962"/>
            <a:ext cx="2799010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1"/>
          <p:cNvSpPr/>
          <p:nvPr/>
        </p:nvSpPr>
        <p:spPr>
          <a:xfrm>
            <a:off x="3370510" y="5414962"/>
            <a:ext cx="2177057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1"/>
          <p:cNvSpPr/>
          <p:nvPr/>
        </p:nvSpPr>
        <p:spPr>
          <a:xfrm>
            <a:off x="5547568" y="5414962"/>
            <a:ext cx="3470076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1"/>
          <p:cNvSpPr/>
          <p:nvPr/>
        </p:nvSpPr>
        <p:spPr>
          <a:xfrm>
            <a:off x="9017644" y="5414962"/>
            <a:ext cx="2602855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5" name="Google Shape;195;p22"/>
          <p:cNvGrpSpPr/>
          <p:nvPr/>
        </p:nvGrpSpPr>
        <p:grpSpPr>
          <a:xfrm>
            <a:off x="571500" y="571500"/>
            <a:ext cx="11049000" cy="676350"/>
            <a:chOff x="571500" y="571500"/>
            <a:chExt cx="11049000" cy="676350"/>
          </a:xfrm>
        </p:grpSpPr>
        <p:sp>
          <p:nvSpPr>
            <p:cNvPr id="196" name="Google Shape;196;p22"/>
            <p:cNvSpPr txBox="1"/>
            <p:nvPr/>
          </p:nvSpPr>
          <p:spPr>
            <a:xfrm>
              <a:off x="571500" y="571500"/>
              <a:ext cx="11049000" cy="58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450"/>
                </a:spcAft>
                <a:buNone/>
              </a:pPr>
              <a:r>
                <a:rPr b="1" lang="en-US" sz="3600">
                  <a:solidFill>
                    <a:srgbClr val="002D54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Conceptos de Python Aplicados</a:t>
              </a:r>
              <a:endParaRPr b="1" sz="3600">
                <a:solidFill>
                  <a:srgbClr val="002D54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  <p:sp>
          <p:nvSpPr>
            <p:cNvPr id="197" name="Google Shape;197;p22"/>
            <p:cNvSpPr/>
            <p:nvPr/>
          </p:nvSpPr>
          <p:spPr>
            <a:xfrm>
              <a:off x="571500" y="1238250"/>
              <a:ext cx="11049000" cy="9600"/>
            </a:xfrm>
            <a:prstGeom prst="rect">
              <a:avLst/>
            </a:prstGeom>
            <a:solidFill>
              <a:srgbClr val="002D5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8" name="Google Shape;198;p22"/>
          <p:cNvGrpSpPr/>
          <p:nvPr/>
        </p:nvGrpSpPr>
        <p:grpSpPr>
          <a:xfrm>
            <a:off x="571500" y="1666875"/>
            <a:ext cx="5238900" cy="1714500"/>
            <a:chOff x="571500" y="1666875"/>
            <a:chExt cx="5238900" cy="1714500"/>
          </a:xfrm>
        </p:grpSpPr>
        <p:sp>
          <p:nvSpPr>
            <p:cNvPr id="199" name="Google Shape;199;p22"/>
            <p:cNvSpPr/>
            <p:nvPr/>
          </p:nvSpPr>
          <p:spPr>
            <a:xfrm>
              <a:off x="571500" y="1666875"/>
              <a:ext cx="5238900" cy="1714500"/>
            </a:xfrm>
            <a:prstGeom prst="roundRect">
              <a:avLst>
                <a:gd fmla="val 6666" name="adj"/>
              </a:avLst>
            </a:prstGeom>
            <a:solidFill>
              <a:srgbClr val="FFFFFF">
                <a:alpha val="89999"/>
              </a:srgbClr>
            </a:solidFill>
            <a:ln cap="flat" cmpd="sng" w="14300">
              <a:solidFill>
                <a:srgbClr val="E07A5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22"/>
            <p:cNvSpPr txBox="1"/>
            <p:nvPr/>
          </p:nvSpPr>
          <p:spPr>
            <a:xfrm>
              <a:off x="809625" y="1857375"/>
              <a:ext cx="47625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002D54"/>
                  </a:solidFill>
                  <a:latin typeface="DM Sans"/>
                  <a:ea typeface="DM Sans"/>
                  <a:cs typeface="DM Sans"/>
                  <a:sym typeface="DM Sans"/>
                </a:rPr>
                <a:t>Funciones Reutilizables</a:t>
              </a:r>
              <a:endParaRPr b="1" sz="1500">
                <a:solidFill>
                  <a:srgbClr val="002D54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450"/>
                </a:spcAft>
                <a:buNone/>
              </a:pPr>
              <a:r>
                <a:rPr lang="en-US" sz="1350">
                  <a:solidFill>
                    <a:srgbClr val="3D405B"/>
                  </a:solidFill>
                  <a:latin typeface="DM Sans"/>
                  <a:ea typeface="DM Sans"/>
                  <a:cs typeface="DM Sans"/>
                  <a:sym typeface="DM Sans"/>
                </a:rPr>
                <a:t>Permiten estructurar un código organizado, modular y fácil de mantener.</a:t>
              </a:r>
              <a:endParaRPr sz="1350">
                <a:solidFill>
                  <a:srgbClr val="3D405B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201" name="Google Shape;201;p22"/>
          <p:cNvGrpSpPr/>
          <p:nvPr/>
        </p:nvGrpSpPr>
        <p:grpSpPr>
          <a:xfrm>
            <a:off x="6381750" y="1666875"/>
            <a:ext cx="5238900" cy="1714500"/>
            <a:chOff x="6381750" y="1666875"/>
            <a:chExt cx="5238900" cy="1714500"/>
          </a:xfrm>
        </p:grpSpPr>
        <p:sp>
          <p:nvSpPr>
            <p:cNvPr id="202" name="Google Shape;202;p22"/>
            <p:cNvSpPr/>
            <p:nvPr/>
          </p:nvSpPr>
          <p:spPr>
            <a:xfrm>
              <a:off x="6381750" y="1666875"/>
              <a:ext cx="5238900" cy="1714500"/>
            </a:xfrm>
            <a:prstGeom prst="roundRect">
              <a:avLst>
                <a:gd fmla="val 6666" name="adj"/>
              </a:avLst>
            </a:prstGeom>
            <a:solidFill>
              <a:srgbClr val="FFFFFF">
                <a:alpha val="89999"/>
              </a:srgbClr>
            </a:solidFill>
            <a:ln cap="flat" cmpd="sng" w="14300">
              <a:solidFill>
                <a:srgbClr val="E07A5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22"/>
            <p:cNvSpPr txBox="1"/>
            <p:nvPr/>
          </p:nvSpPr>
          <p:spPr>
            <a:xfrm>
              <a:off x="6619875" y="1857375"/>
              <a:ext cx="47625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002D54"/>
                  </a:solidFill>
                  <a:latin typeface="DM Sans"/>
                  <a:ea typeface="DM Sans"/>
                  <a:cs typeface="DM Sans"/>
                  <a:sym typeface="DM Sans"/>
                </a:rPr>
                <a:t>Estructuras de Decisión (if / elif / else)</a:t>
              </a:r>
              <a:endParaRPr b="1" sz="1500">
                <a:solidFill>
                  <a:srgbClr val="002D54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450"/>
                </a:spcAft>
                <a:buNone/>
              </a:pPr>
              <a:r>
                <a:rPr lang="en-US" sz="1350">
                  <a:solidFill>
                    <a:srgbClr val="3D405B"/>
                  </a:solidFill>
                  <a:latin typeface="DM Sans"/>
                  <a:ea typeface="DM Sans"/>
                  <a:cs typeface="DM Sans"/>
                  <a:sym typeface="DM Sans"/>
                </a:rPr>
                <a:t>Evalúan múltiples condiciones en orden para dividir el flujo de ejecución del juego.</a:t>
              </a:r>
              <a:endParaRPr sz="1350">
                <a:solidFill>
                  <a:srgbClr val="3D405B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204" name="Google Shape;204;p22"/>
          <p:cNvGrpSpPr/>
          <p:nvPr/>
        </p:nvGrpSpPr>
        <p:grpSpPr>
          <a:xfrm>
            <a:off x="571500" y="3667125"/>
            <a:ext cx="3362400" cy="2238300"/>
            <a:chOff x="571500" y="3667125"/>
            <a:chExt cx="3362400" cy="2238300"/>
          </a:xfrm>
        </p:grpSpPr>
        <p:sp>
          <p:nvSpPr>
            <p:cNvPr id="205" name="Google Shape;205;p22"/>
            <p:cNvSpPr/>
            <p:nvPr/>
          </p:nvSpPr>
          <p:spPr>
            <a:xfrm>
              <a:off x="571500" y="3667125"/>
              <a:ext cx="3362400" cy="2238300"/>
            </a:xfrm>
            <a:prstGeom prst="roundRect">
              <a:avLst>
                <a:gd fmla="val 5106" name="adj"/>
              </a:avLst>
            </a:prstGeom>
            <a:solidFill>
              <a:srgbClr val="FFFFFF">
                <a:alpha val="89999"/>
              </a:srgbClr>
            </a:solidFill>
            <a:ln cap="flat" cmpd="sng" w="14300">
              <a:solidFill>
                <a:srgbClr val="E07A5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22"/>
            <p:cNvSpPr txBox="1"/>
            <p:nvPr/>
          </p:nvSpPr>
          <p:spPr>
            <a:xfrm>
              <a:off x="809625" y="3857625"/>
              <a:ext cx="2886000" cy="185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002D54"/>
                  </a:solidFill>
                  <a:latin typeface="DM Sans"/>
                  <a:ea typeface="DM Sans"/>
                  <a:cs typeface="DM Sans"/>
                  <a:sym typeface="DM Sans"/>
                </a:rPr>
                <a:t>Tuplas</a:t>
              </a:r>
              <a:endParaRPr b="1" sz="1500">
                <a:solidFill>
                  <a:srgbClr val="002D54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450"/>
                </a:spcAft>
                <a:buNone/>
              </a:pPr>
              <a:r>
                <a:rPr lang="en-US" sz="1350">
                  <a:solidFill>
                    <a:srgbClr val="3D405B"/>
                  </a:solidFill>
                  <a:latin typeface="DM Sans"/>
                  <a:ea typeface="DM Sans"/>
                  <a:cs typeface="DM Sans"/>
                  <a:sym typeface="DM Sans"/>
                </a:rPr>
                <a:t>Garantizan la protección de datos maestros que no deben ser modificados durante la partida.</a:t>
              </a:r>
              <a:endParaRPr sz="1350">
                <a:solidFill>
                  <a:srgbClr val="3D405B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207" name="Google Shape;207;p22"/>
          <p:cNvGrpSpPr/>
          <p:nvPr/>
        </p:nvGrpSpPr>
        <p:grpSpPr>
          <a:xfrm>
            <a:off x="4410075" y="3667125"/>
            <a:ext cx="3362400" cy="2238300"/>
            <a:chOff x="4410075" y="3667125"/>
            <a:chExt cx="3362400" cy="2238300"/>
          </a:xfrm>
        </p:grpSpPr>
        <p:sp>
          <p:nvSpPr>
            <p:cNvPr id="208" name="Google Shape;208;p22"/>
            <p:cNvSpPr/>
            <p:nvPr/>
          </p:nvSpPr>
          <p:spPr>
            <a:xfrm>
              <a:off x="4410075" y="3667125"/>
              <a:ext cx="3362400" cy="2238300"/>
            </a:xfrm>
            <a:prstGeom prst="roundRect">
              <a:avLst>
                <a:gd fmla="val 5106" name="adj"/>
              </a:avLst>
            </a:prstGeom>
            <a:solidFill>
              <a:srgbClr val="FFFFFF">
                <a:alpha val="89999"/>
              </a:srgbClr>
            </a:solidFill>
            <a:ln cap="flat" cmpd="sng" w="14300">
              <a:solidFill>
                <a:srgbClr val="E07A5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22"/>
            <p:cNvSpPr txBox="1"/>
            <p:nvPr/>
          </p:nvSpPr>
          <p:spPr>
            <a:xfrm>
              <a:off x="4648200" y="3857625"/>
              <a:ext cx="2886000" cy="185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002D54"/>
                  </a:solidFill>
                  <a:latin typeface="DM Sans"/>
                  <a:ea typeface="DM Sans"/>
                  <a:cs typeface="DM Sans"/>
                  <a:sym typeface="DM Sans"/>
                </a:rPr>
                <a:t>Diccionarios</a:t>
              </a:r>
              <a:endParaRPr b="1" sz="1500">
                <a:solidFill>
                  <a:srgbClr val="002D54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450"/>
                </a:spcAft>
                <a:buNone/>
              </a:pPr>
              <a:r>
                <a:rPr lang="en-US" sz="1350">
                  <a:solidFill>
                    <a:srgbClr val="3D405B"/>
                  </a:solidFill>
                  <a:latin typeface="DM Sans"/>
                  <a:ea typeface="DM Sans"/>
                  <a:cs typeface="DM Sans"/>
                  <a:sym typeface="DM Sans"/>
                </a:rPr>
                <a:t>Facilitan una resolución eficiente de reglas mediante mapeos de clave-valor directos.</a:t>
              </a:r>
              <a:endParaRPr sz="1350">
                <a:solidFill>
                  <a:srgbClr val="3D405B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210" name="Google Shape;210;p22"/>
          <p:cNvGrpSpPr/>
          <p:nvPr/>
        </p:nvGrpSpPr>
        <p:grpSpPr>
          <a:xfrm>
            <a:off x="8248650" y="3667125"/>
            <a:ext cx="3372000" cy="2238300"/>
            <a:chOff x="8248650" y="3667125"/>
            <a:chExt cx="3372000" cy="2238300"/>
          </a:xfrm>
        </p:grpSpPr>
        <p:sp>
          <p:nvSpPr>
            <p:cNvPr id="211" name="Google Shape;211;p22"/>
            <p:cNvSpPr/>
            <p:nvPr/>
          </p:nvSpPr>
          <p:spPr>
            <a:xfrm>
              <a:off x="8248650" y="3667125"/>
              <a:ext cx="3372000" cy="2238300"/>
            </a:xfrm>
            <a:prstGeom prst="roundRect">
              <a:avLst>
                <a:gd fmla="val 5106" name="adj"/>
              </a:avLst>
            </a:prstGeom>
            <a:solidFill>
              <a:srgbClr val="FFFFFF">
                <a:alpha val="89999"/>
              </a:srgbClr>
            </a:solidFill>
            <a:ln cap="flat" cmpd="sng" w="14300">
              <a:solidFill>
                <a:srgbClr val="E07A5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22"/>
            <p:cNvSpPr txBox="1"/>
            <p:nvPr/>
          </p:nvSpPr>
          <p:spPr>
            <a:xfrm>
              <a:off x="8486775" y="3857625"/>
              <a:ext cx="2895600" cy="185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002D54"/>
                  </a:solidFill>
                  <a:latin typeface="DM Sans"/>
                  <a:ea typeface="DM Sans"/>
                  <a:cs typeface="DM Sans"/>
                  <a:sym typeface="DM Sans"/>
                </a:rPr>
                <a:t>Bucle de Control (While)</a:t>
              </a:r>
              <a:endParaRPr b="1" sz="1500">
                <a:solidFill>
                  <a:srgbClr val="002D54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450"/>
                </a:spcAft>
                <a:buNone/>
              </a:pPr>
              <a:r>
                <a:rPr lang="en-US" sz="1350">
                  <a:solidFill>
                    <a:srgbClr val="3D405B"/>
                  </a:solidFill>
                  <a:latin typeface="DM Sans"/>
                  <a:ea typeface="DM Sans"/>
                  <a:cs typeface="DM Sans"/>
                  <a:sym typeface="DM Sans"/>
                </a:rPr>
                <a:t>Mantiene una interacción continua con el usuario hasta que éste decida salir explícitamente.</a:t>
              </a:r>
              <a:endParaRPr sz="1350">
                <a:solidFill>
                  <a:srgbClr val="3D405B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